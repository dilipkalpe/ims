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IMS — Sales Presentation Outline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10-Slide Deck (Client Demo / First Meeting)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Format:</a:t>
            </a:r>
            <a:r>
              <a:rPr/>
              <a:t> Copy each slide block into PowerPoint or Google Slides.</a:t>
            </a:r>
            <a:br/>
            <a:r>
              <a:rPr b="1"/>
              <a:t>Duration:</a:t>
            </a:r>
            <a:r>
              <a:rPr/>
              <a:t> ~25–30 minutes + Q&amp;A</a:t>
            </a:r>
            <a:br/>
            <a:r>
              <a:rPr b="1"/>
              <a:t>Tip:</a:t>
            </a:r>
            <a:r>
              <a:rPr/>
              <a:t> Use full-screen screenshots on slides 5–8 where noted.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 —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IMS — Inventory Management System</a:t>
            </a:r>
            <a:br/>
            <a:r>
              <a:rPr b="1"/>
              <a:t>Subtitle:</a:t>
            </a:r>
            <a:r>
              <a:rPr/>
              <a:t> One system for sales, purchase, stock, and accounts</a:t>
            </a:r>
          </a:p>
          <a:p>
            <a:pPr lvl="0" indent="0" marL="0">
              <a:buNone/>
            </a:pPr>
            <a:r>
              <a:rPr b="1"/>
              <a:t>On slide:</a:t>
            </a:r>
            <a:r>
              <a:rPr/>
              <a:t> - </a:t>
            </a:r>
            <a:r>
              <a:rPr>
                <a:latin typeface="Courier"/>
              </a:rPr>
              <a:t>[Your company logo]</a:t>
            </a:r>
            <a:r>
              <a:rPr/>
              <a:t> - Presenter name &amp; date - Client name (personalize)</a:t>
            </a:r>
          </a:p>
          <a:p>
            <a:pPr lvl="0" indent="0" marL="0">
              <a:buNone/>
            </a:pPr>
            <a:r>
              <a:rPr b="1"/>
              <a:t>Speaker notes:</a:t>
            </a:r>
            <a:br/>
            <a:r>
              <a:rPr/>
              <a:t>“Thank you for your time. Today I’ll show how IMS helps businesses like yours run daily operations and management reporting from one place—without heavy ERP complexity.”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 — The problem we solve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Where businesses lose time and money</a:t>
            </a:r>
          </a:p>
          <a:p>
            <a:pPr lvl="0" indent="0" marL="0">
              <a:buNone/>
            </a:pPr>
            <a:r>
              <a:rPr b="1"/>
              <a:t>Bullets:</a:t>
            </a:r>
            <a:r>
              <a:rPr/>
              <a:t> - Stock in Excel doesn’t match what was billed</a:t>
            </a:r>
            <a:br/>
            <a:r>
              <a:rPr/>
              <a:t>- Sales, warehouse, and accounts use different tools</a:t>
            </a:r>
            <a:br/>
            <a:r>
              <a:rPr/>
              <a:t>- Outstanding collections are hard to track</a:t>
            </a:r>
            <a:br/>
            <a:r>
              <a:rPr/>
              <a:t>- Month-end reports take days to compile</a:t>
            </a:r>
          </a:p>
          <a:p>
            <a:pPr lvl="0" indent="0" marL="0">
              <a:buNone/>
            </a:pPr>
            <a:r>
              <a:rPr b="1"/>
              <a:t>Visual:</a:t>
            </a:r>
            <a:r>
              <a:rPr/>
              <a:t> Simple icon row (spreadsheet → question mark → delayed payment)</a:t>
            </a:r>
            <a:br/>
            <a:r>
              <a:rPr i="1"/>
              <a:t>Or:</a:t>
            </a:r>
            <a:r>
              <a:rPr/>
              <a:t> </a:t>
            </a:r>
            <a:r>
              <a:rPr>
                <a:latin typeface="Courier"/>
              </a:rPr>
              <a:t>[Optional: client pain quote from discovery call]</a:t>
            </a:r>
          </a:p>
          <a:p>
            <a:pPr lvl="0" indent="0" marL="0">
              <a:buNone/>
            </a:pPr>
            <a:r>
              <a:rPr b="1"/>
              <a:t>Speaker notes:</a:t>
            </a:r>
            <a:br/>
            <a:r>
              <a:rPr/>
              <a:t>“Most of our clients felt this before IMS. The cost isn’t just software—it’s wrong shipments, delayed invoices, and cash stuck in receivables.”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 — Introducing 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IMS — integrated operations platform</a:t>
            </a:r>
          </a:p>
          <a:p>
            <a:pPr lvl="0" indent="0" marL="0">
              <a:buNone/>
            </a:pPr>
            <a:r>
              <a:rPr b="1"/>
              <a:t>Bullets:</a:t>
            </a:r>
            <a:r>
              <a:rPr/>
              <a:t> - Desktop app for daily users (Windows)</a:t>
            </a:r>
            <a:br/>
            <a:r>
              <a:rPr/>
              <a:t>- Central database — everyone sees live data</a:t>
            </a:r>
            <a:br/>
            <a:r>
              <a:rPr/>
              <a:t>- Modules: </a:t>
            </a:r>
            <a:r>
              <a:rPr b="1"/>
              <a:t>Sales · Purchase · Inventory · Production · Finance · Reports</a:t>
            </a:r>
            <a:br/>
            <a:r>
              <a:rPr/>
              <a:t>- Secure login per user</a:t>
            </a:r>
          </a:p>
          <a:p>
            <a:pPr lvl="0" indent="0" marL="0">
              <a:buNone/>
            </a:pPr>
            <a:r>
              <a:rPr b="1"/>
              <a:t>Visual:</a:t>
            </a:r>
            <a:r>
              <a:rPr/>
              <a:t> High-level diagram (center: </a:t>
            </a:r>
            <a:r>
              <a:rPr b="1"/>
              <a:t>IMS</a:t>
            </a:r>
            <a:r>
              <a:rPr/>
              <a:t>, around it: Sales | Purchase | Stock | Accounts)</a:t>
            </a:r>
          </a:p>
          <a:p>
            <a:pPr lvl="0" indent="0" marL="0">
              <a:buNone/>
            </a:pPr>
            <a:r>
              <a:rPr b="1"/>
              <a:t>Speaker notes:</a:t>
            </a:r>
            <a:br/>
            <a:r>
              <a:rPr/>
              <a:t>“IMS isn’t only inventory—it’s the flow from customer order to invoice, supplier PO to payment, and stock in between.”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4 — Key modules at a glance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Everything in one menu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you manage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Sales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Order → Delivery Challan → Tax Invoice → Return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Purchase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 → GRN → Purchase Invoice → Return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Inventory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Movements, transfers, opening/closing stock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Production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 orders, work centers, status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Receipts, payments, bank, petty cash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Reports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Outstanding, due aging, P&amp;L, trial balance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Speaker notes:</a:t>
            </a:r>
            <a:br/>
            <a:r>
              <a:rPr/>
              <a:t>“You can start with Sales + Purchase + Stock, then add Finance and advanced reports when ready.”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 — Dashboard (live or screenshot)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See the business on one screen</a:t>
            </a:r>
          </a:p>
          <a:p>
            <a:pPr lvl="0" indent="0" marL="0">
              <a:buNone/>
            </a:pPr>
            <a:r>
              <a:rPr b="1"/>
              <a:t>Show:</a:t>
            </a:r>
            <a:r>
              <a:rPr/>
              <a:t> - KPI row: Today’s Sales · Total Sales · Purchase · Income vs Expenses · Inventory Value · Work Orders</a:t>
            </a:r>
            <a:br/>
            <a:r>
              <a:rPr/>
              <a:t>- Three panels: Accounting · Inventory · Production</a:t>
            </a:r>
          </a:p>
          <a:p>
            <a:pPr lvl="0" indent="0" marL="0">
              <a:buNone/>
            </a:pPr>
            <a:r>
              <a:rPr b="1"/>
              <a:t>Visual:</a:t>
            </a:r>
            <a:r>
              <a:rPr/>
              <a:t> </a:t>
            </a:r>
            <a:r>
              <a:rPr>
                <a:latin typeface="Courier"/>
              </a:rPr>
              <a:t>[Insert screenshot: Full dashboard]</a:t>
            </a:r>
            <a:br/>
            <a:r>
              <a:rPr b="1"/>
              <a:t>Callout arrows:</a:t>
            </a:r>
            <a:r>
              <a:rPr/>
              <a:t> “Hover charts for values” · “Refresh for live data”</a:t>
            </a:r>
          </a:p>
          <a:p>
            <a:pPr lvl="0" indent="0" marL="0">
              <a:buNone/>
            </a:pPr>
            <a:r>
              <a:rPr b="1"/>
              <a:t>Speaker notes:</a:t>
            </a:r>
            <a:br/>
            <a:r>
              <a:rPr/>
              <a:t>“Owners open this every morning. No waiting for accounts to email a spreadsheet.”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 — Sales flow (demo slide)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From order to invoice in one system</a:t>
            </a:r>
          </a:p>
          <a:p>
            <a:pPr lvl="0" indent="0" marL="0">
              <a:buNone/>
            </a:pPr>
            <a:r>
              <a:rPr b="1"/>
              <a:t>Flow diagram:</a:t>
            </a:r>
          </a:p>
          <a:p>
            <a:pPr lvl="0" indent="0">
              <a:buNone/>
            </a:pPr>
            <a:r>
              <a:rPr>
                <a:latin typeface="Courier"/>
              </a:rPr>
              <a:t>Sales Order  →  Delivery Challan  →  Tax Invoice  →  Receipt</a:t>
            </a:r>
          </a:p>
          <a:p>
            <a:pPr lvl="0" indent="0" marL="0">
              <a:buNone/>
            </a:pPr>
            <a:r>
              <a:rPr b="1"/>
              <a:t>Show (live or screenshots):</a:t>
            </a:r>
            <a:r>
              <a:rPr/>
              <a:t> - Sales Invoice list (pagination, status)</a:t>
            </a:r>
            <a:br/>
            <a:r>
              <a:rPr/>
              <a:t>- Invoice entry + print preview</a:t>
            </a:r>
          </a:p>
          <a:p>
            <a:pPr lvl="0" indent="0" marL="0">
              <a:buNone/>
            </a:pPr>
            <a:r>
              <a:rPr b="1"/>
              <a:t>Visual:</a:t>
            </a:r>
            <a:r>
              <a:rPr/>
              <a:t> </a:t>
            </a:r>
            <a:r>
              <a:rPr>
                <a:latin typeface="Courier"/>
              </a:rPr>
              <a:t>[Insert screenshot: Sales Invoice list]</a:t>
            </a:r>
            <a:r>
              <a:rPr/>
              <a:t> + </a:t>
            </a:r>
            <a:r>
              <a:rPr>
                <a:latin typeface="Courier"/>
              </a:rPr>
              <a:t>[Insert screenshot: Print preview]</a:t>
            </a:r>
          </a:p>
          <a:p>
            <a:pPr lvl="0" indent="0" marL="0">
              <a:buNone/>
            </a:pPr>
            <a:r>
              <a:rPr b="1"/>
              <a:t>Speaker notes:</a:t>
            </a:r>
            <a:br/>
            <a:r>
              <a:rPr/>
              <a:t>“Your team already thinks in these document names—we don’t force a foreign process.”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 — Purchase &amp; inventory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Stock in = stock out, under control</a:t>
            </a:r>
          </a:p>
          <a:p>
            <a:pPr lvl="0" indent="0" marL="0">
              <a:buNone/>
            </a:pPr>
            <a:r>
              <a:rPr b="1"/>
              <a:t>Bullets:</a:t>
            </a:r>
            <a:r>
              <a:rPr/>
              <a:t> - </a:t>
            </a:r>
            <a:r>
              <a:rPr b="1"/>
              <a:t>Purchase:</a:t>
            </a:r>
            <a:r>
              <a:rPr/>
              <a:t> PO → GRN → Supplier invoice</a:t>
            </a:r>
            <a:br/>
            <a:r>
              <a:rPr/>
              <a:t>- </a:t>
            </a:r>
            <a:r>
              <a:rPr b="1"/>
              <a:t>Stock transfer</a:t>
            </a:r>
            <a:r>
              <a:rPr/>
              <a:t> between godowns/warehouses</a:t>
            </a:r>
            <a:br/>
            <a:r>
              <a:rPr/>
              <a:t>- </a:t>
            </a:r>
            <a:r>
              <a:rPr b="1"/>
              <a:t>Low stock</a:t>
            </a:r>
            <a:r>
              <a:rPr/>
              <a:t> visible on dashboard + reorder report</a:t>
            </a:r>
          </a:p>
          <a:p>
            <a:pPr lvl="0" indent="0" marL="0">
              <a:buNone/>
            </a:pPr>
            <a:r>
              <a:rPr b="1"/>
              <a:t>Visual:</a:t>
            </a:r>
            <a:r>
              <a:rPr/>
              <a:t> </a:t>
            </a:r>
            <a:r>
              <a:rPr>
                <a:latin typeface="Courier"/>
              </a:rPr>
              <a:t>[Insert screenshot: Stock Transfer]</a:t>
            </a:r>
            <a:r>
              <a:rPr/>
              <a:t> or </a:t>
            </a:r>
            <a:r>
              <a:rPr>
                <a:latin typeface="Courier"/>
              </a:rPr>
              <a:t>[GRN list]</a:t>
            </a:r>
            <a:br/>
            <a:r>
              <a:rPr/>
              <a:t>Optional mini-flow: PO → GRN → PI</a:t>
            </a:r>
          </a:p>
          <a:p>
            <a:pPr lvl="0" indent="0" marL="0">
              <a:buNone/>
            </a:pPr>
            <a:r>
              <a:rPr b="1"/>
              <a:t>Speaker notes:</a:t>
            </a:r>
            <a:br/>
            <a:r>
              <a:rPr/>
              <a:t>“Warehouse records transfers in IMS; finance sees the same stock value as operations.”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 — Finance &amp;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Know who to call for payment</a:t>
            </a:r>
          </a:p>
          <a:p>
            <a:pPr lvl="0" indent="0" marL="0">
              <a:buNone/>
            </a:pPr>
            <a:r>
              <a:rPr b="1"/>
              <a:t>Bullets:</a:t>
            </a:r>
            <a:r>
              <a:rPr/>
              <a:t> - Outstanding report (receivables &amp; payables)</a:t>
            </a:r>
            <a:br/>
            <a:r>
              <a:rPr/>
              <a:t>- Due report — by </a:t>
            </a:r>
            <a:r>
              <a:rPr b="1"/>
              <a:t>days</a:t>
            </a:r>
            <a:r>
              <a:rPr/>
              <a:t> and by </a:t>
            </a:r>
            <a:r>
              <a:rPr b="1"/>
              <a:t>amount</a:t>
            </a:r>
            <a:br/>
            <a:r>
              <a:rPr/>
              <a:t>- Payment &amp; receipt vouchers with references</a:t>
            </a:r>
            <a:br/>
            <a:r>
              <a:rPr/>
              <a:t>- Trial balance, profit analysis (MIS menu)</a:t>
            </a:r>
          </a:p>
          <a:p>
            <a:pPr lvl="0" indent="0" marL="0">
              <a:buNone/>
            </a:pPr>
            <a:r>
              <a:rPr b="1"/>
              <a:t>Visual:</a:t>
            </a:r>
            <a:r>
              <a:rPr/>
              <a:t> </a:t>
            </a:r>
            <a:r>
              <a:rPr>
                <a:latin typeface="Courier"/>
              </a:rPr>
              <a:t>[Insert screenshot: Outstanding Report]</a:t>
            </a:r>
          </a:p>
          <a:p>
            <a:pPr lvl="0" indent="0" marL="0">
              <a:buNone/>
            </a:pPr>
            <a:r>
              <a:rPr b="1"/>
              <a:t>Speaker notes:</a:t>
            </a:r>
            <a:br/>
            <a:r>
              <a:rPr/>
              <a:t>“Collections team can export or work from list—no separate aging spreadsheet.”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9 — Why clients choose IMS (USP)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Why IMS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Point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All-in-one for trading + manufacturing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Familiar Indian document flow (SO, DC, Invoice)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Handles large data with fast lists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Excel import for go-live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Print-ready tax invoices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Optional:</a:t>
            </a:r>
            <a:r>
              <a:rPr/>
              <a:t> Client testimonial or logo strip </a:t>
            </a:r>
            <a:r>
              <a:rPr>
                <a:latin typeface="Courier"/>
              </a:rPr>
              <a:t>[Client logos if available]</a:t>
            </a:r>
          </a:p>
          <a:p>
            <a:pPr lvl="0" indent="0" marL="0">
              <a:buNone/>
            </a:pPr>
            <a:r>
              <a:rPr b="1"/>
              <a:t>Speaker notes:</a:t>
            </a:r>
            <a:br/>
            <a:r>
              <a:rPr/>
              <a:t>“Compared to Excel you gain control; compared to big ERP you gain speed and lower total cost.”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10 — Next steps &amp; close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Your path to go-live</a:t>
            </a:r>
          </a:p>
          <a:p>
            <a:pPr lvl="0" indent="0" marL="0">
              <a:buNone/>
            </a:pPr>
            <a:r>
              <a:rPr b="1"/>
              <a:t>Timeline (example):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Activity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Masters + company setup (or Excel import)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Opening stock + training (sales/purchase)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Go-live on billing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Reports + finance modules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Offer:</a:t>
            </a:r>
            <a:r>
              <a:rPr/>
              <a:t> - </a:t>
            </a:r>
            <a:r>
              <a:rPr b="1"/>
              <a:t>Next:</a:t>
            </a:r>
            <a:r>
              <a:rPr/>
              <a:t> Detailed demo on </a:t>
            </a:r>
            <a:r>
              <a:rPr i="1"/>
              <a:t>your</a:t>
            </a:r>
            <a:r>
              <a:rPr/>
              <a:t> products &amp; branches</a:t>
            </a:r>
            <a:br/>
            <a:r>
              <a:rPr/>
              <a:t>- </a:t>
            </a:r>
            <a:r>
              <a:rPr b="1"/>
              <a:t>Deliverable:</a:t>
            </a:r>
            <a:r>
              <a:rPr/>
              <a:t> Proposal + pricing + implementation plan</a:t>
            </a:r>
          </a:p>
          <a:p>
            <a:pPr lvl="0" indent="0" marL="0">
              <a:buNone/>
            </a:pPr>
            <a:r>
              <a:rPr b="1"/>
              <a:t>Contact block:</a:t>
            </a:r>
            <a:r>
              <a:rPr/>
              <a:t> </a:t>
            </a:r>
            <a:r>
              <a:rPr>
                <a:latin typeface="Courier"/>
              </a:rPr>
              <a:t>[Name]</a:t>
            </a:r>
            <a:r>
              <a:rPr/>
              <a:t> · </a:t>
            </a:r>
            <a:r>
              <a:rPr>
                <a:latin typeface="Courier"/>
              </a:rPr>
              <a:t>[Phone]</a:t>
            </a:r>
            <a:r>
              <a:rPr/>
              <a:t> · </a:t>
            </a:r>
            <a:r>
              <a:rPr>
                <a:latin typeface="Courier"/>
              </a:rPr>
              <a:t>[Email]</a:t>
            </a:r>
            <a:r>
              <a:rPr/>
              <a:t> · </a:t>
            </a:r>
            <a:r>
              <a:rPr>
                <a:latin typeface="Courier"/>
              </a:rPr>
              <a:t>[Website]</a:t>
            </a:r>
          </a:p>
          <a:p>
            <a:pPr lvl="0" indent="0" marL="0">
              <a:buNone/>
            </a:pPr>
            <a:r>
              <a:rPr b="1"/>
              <a:t>Speaker notes:</a:t>
            </a:r>
            <a:br/>
            <a:r>
              <a:rPr/>
              <a:t>“What would be most useful—a deeper demo with your sample products, or a proposal for [X] users and [Y] locations?”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(optional backup slides)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these hidden unless asked:</a:t>
            </a:r>
          </a:p>
          <a:p>
            <a:pPr lvl="0"/>
            <a:r>
              <a:rPr b="1"/>
              <a:t>A1:</a:t>
            </a:r>
            <a:r>
              <a:rPr/>
              <a:t> Product Master &amp; Excel import</a:t>
            </a:r>
            <a:br/>
          </a:p>
          <a:p>
            <a:pPr lvl="0"/>
            <a:r>
              <a:rPr b="1"/>
              <a:t>A2:</a:t>
            </a:r>
            <a:r>
              <a:rPr/>
              <a:t> User management &amp; security</a:t>
            </a:r>
            <a:br/>
          </a:p>
          <a:p>
            <a:pPr lvl="0"/>
            <a:r>
              <a:rPr b="1"/>
              <a:t>A3:</a:t>
            </a:r>
            <a:r>
              <a:rPr/>
              <a:t> Full module list (from Sales Team Document)</a:t>
            </a:r>
            <a:br/>
          </a:p>
          <a:p>
            <a:pPr lvl="0"/>
            <a:r>
              <a:rPr b="1"/>
              <a:t>A4:</a:t>
            </a:r>
            <a:r>
              <a:rPr/>
              <a:t> Pricing table (fill before meeting)</a:t>
            </a:r>
            <a:br/>
          </a:p>
          <a:p>
            <a:pPr lvl="0"/>
            <a:r>
              <a:rPr b="1"/>
              <a:t>A5:</a:t>
            </a:r>
            <a:r>
              <a:rPr/>
              <a:t> FAQ — top 5 objections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Deck checklist before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☐ Client name on slide 1</a:t>
            </a:r>
            <a:br/>
          </a:p>
          <a:p>
            <a:pPr lvl="0"/>
            <a:r>
              <a:rPr/>
              <a:t>☐ Screenshots inserted on slides 5–8</a:t>
            </a:r>
            <a:br/>
          </a:p>
          <a:p>
            <a:pPr lvl="0"/>
            <a:r>
              <a:rPr/>
              <a:t>☐ Pricing approved for slide 10 (if discussing numbers)</a:t>
            </a:r>
            <a:br/>
          </a:p>
          <a:p>
            <a:pPr lvl="0"/>
            <a:r>
              <a:rPr/>
              <a:t>☐ Laptop + API/server running for live demo</a:t>
            </a:r>
            <a:br/>
          </a:p>
          <a:p>
            <a:pPr lvl="0"/>
            <a:r>
              <a:rPr/>
              <a:t>☐ Sample login ready (</a:t>
            </a:r>
            <a:r>
              <a:rPr>
                <a:latin typeface="Courier"/>
              </a:rPr>
              <a:t>admin</a:t>
            </a:r>
            <a:r>
              <a:rPr/>
              <a:t> / demo account per your policy)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Source: IMS Sales Team Document v1.0 — keep deck aligned when product updates.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2026-05-29T10:47:49Z</dcterms:created>
  <dcterms:modified xsi:type="dcterms:W3CDTF">2026-05-29T10:47:49Z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