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IMS — Inventory Management System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Sales Team Product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 version:</a:t>
            </a:r>
            <a:r>
              <a:rPr/>
              <a:t> 1.0</a:t>
            </a:r>
            <a:br/>
            <a:r>
              <a:rPr b="1"/>
              <a:t>Last updated:</a:t>
            </a:r>
            <a:r>
              <a:rPr/>
              <a:t> May 2026</a:t>
            </a:r>
            <a:br/>
            <a:r>
              <a:rPr b="1"/>
              <a:t>Audience:</a:t>
            </a:r>
            <a:r>
              <a:rPr/>
              <a:t> Sales, pre-sales, and client-facing teams</a:t>
            </a:r>
            <a:br/>
            <a:r>
              <a:rPr b="1"/>
              <a:t>Classification:</a:t>
            </a:r>
            <a:r>
              <a:rPr/>
              <a:t> Client-ready (non-technical)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How to use this document</a:t>
            </a:r>
            <a:br/>
            <a:r>
              <a:rPr sz="2000"/>
              <a:t>Use this guide for client demos, discovery calls, proposals, and follow-ups. Replace bracketed placeholders (e.g. </a:t>
            </a:r>
            <a:r>
              <a:rPr sz="2000">
                <a:latin typeface="Courier"/>
              </a:rPr>
              <a:t>[Insert screenshot]</a:t>
            </a:r>
            <a:r>
              <a:rPr sz="2000"/>
              <a:t>) with your branded screenshots before exporting to PDF, Word, or PowerPoint.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Product Overview</a:t>
            </a:r>
            <a:br/>
          </a:p>
          <a:p>
            <a:pPr lvl="0" indent="-342900" marL="342900">
              <a:buAutoNum type="arabicPeriod"/>
            </a:pPr>
            <a:r>
              <a:rPr/>
              <a:t>Key Features &amp; Modules</a:t>
            </a:r>
            <a:br/>
          </a:p>
          <a:p>
            <a:pPr lvl="0" indent="-342900" marL="342900">
              <a:buAutoNum type="arabicPeriod"/>
            </a:pPr>
            <a:r>
              <a:rPr/>
              <a:t>Business Benefits</a:t>
            </a:r>
            <a:br/>
          </a:p>
          <a:p>
            <a:pPr lvl="0" indent="-342900" marL="342900">
              <a:buAutoNum type="arabicPeriod"/>
            </a:pPr>
            <a:r>
              <a:rPr/>
              <a:t>User Flow / Process Flow</a:t>
            </a:r>
            <a:br/>
          </a:p>
          <a:p>
            <a:pPr lvl="0" indent="-342900" marL="342900">
              <a:buAutoNum type="arabicPeriod"/>
            </a:pPr>
            <a:r>
              <a:rPr/>
              <a:t>Dashboard &amp; Important Screenshots</a:t>
            </a:r>
            <a:br/>
          </a:p>
          <a:p>
            <a:pPr lvl="0" indent="-342900" marL="342900">
              <a:buAutoNum type="arabicPeriod"/>
            </a:pPr>
            <a:r>
              <a:rPr/>
              <a:t>Unique Selling Points (USP)</a:t>
            </a:r>
            <a:br/>
          </a:p>
          <a:p>
            <a:pPr lvl="0" indent="-342900" marL="342900">
              <a:buAutoNum type="arabicPeriod"/>
            </a:pPr>
            <a:r>
              <a:rPr/>
              <a:t>Client Use Cases</a:t>
            </a:r>
            <a:br/>
          </a:p>
          <a:p>
            <a:pPr lvl="0" indent="-342900" marL="342900">
              <a:buAutoNum type="arabicPeriod"/>
            </a:pPr>
            <a:r>
              <a:rPr/>
              <a:t>FAQ Section</a:t>
            </a:r>
            <a:br/>
          </a:p>
          <a:p>
            <a:pPr lvl="0" indent="-342900" marL="342900">
              <a:buAutoNum type="arabicPeriod"/>
            </a:pPr>
            <a:r>
              <a:rPr/>
              <a:t>Optional Pricing / Plan Section</a:t>
            </a:r>
            <a:br/>
          </a:p>
          <a:p>
            <a:pPr lvl="0" indent="-342900" marL="342900">
              <a:buAutoNum type="arabicPeriod"/>
            </a:pPr>
            <a:r>
              <a:rPr/>
              <a:t>Conclusion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Product Overview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IMS?</a:t>
            </a:r>
          </a:p>
          <a:p>
            <a:pPr lvl="0" indent="0" marL="0">
              <a:buNone/>
            </a:pPr>
            <a:r>
              <a:rPr b="1"/>
              <a:t>IMS (Inventory Management System)</a:t>
            </a:r>
            <a:r>
              <a:rPr/>
              <a:t> is an integrated business application that helps trading, manufacturing, and distribution companies manage </a:t>
            </a:r>
            <a:r>
              <a:rPr b="1"/>
              <a:t>inventory, sales, purchases, production, and finance</a:t>
            </a:r>
            <a:r>
              <a:rPr/>
              <a:t> from one place.</a:t>
            </a:r>
          </a:p>
          <a:p>
            <a:pPr lvl="0" indent="0" marL="0">
              <a:buNone/>
            </a:pPr>
            <a:r>
              <a:rPr/>
              <a:t>Instead of juggling spreadsheets, separate billing tools, and disconnected stock registers, IMS gives your team a </a:t>
            </a:r>
            <a:r>
              <a:rPr b="1"/>
              <a:t>single source of truth</a:t>
            </a:r>
            <a:r>
              <a:rPr/>
              <a:t> for:</a:t>
            </a:r>
          </a:p>
          <a:p>
            <a:pPr lvl="0"/>
            <a:r>
              <a:rPr/>
              <a:t>What you sell and buy</a:t>
            </a:r>
            <a:br/>
          </a:p>
          <a:p>
            <a:pPr lvl="0"/>
            <a:r>
              <a:rPr/>
              <a:t>How much stock you have (and where)</a:t>
            </a:r>
            <a:br/>
          </a:p>
          <a:p>
            <a:pPr lvl="0"/>
            <a:r>
              <a:rPr/>
              <a:t>Who owes you money—and whom you owe</a:t>
            </a:r>
            <a:br/>
          </a:p>
          <a:p>
            <a:pPr lvl="0"/>
            <a:r>
              <a:rPr/>
              <a:t>How production and fulfillment are progressing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Who is it for?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/>
                <a:gridCol w="237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Typical fit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Traders &amp; distributors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Sales orders, delivery challans, tax invoices, stock transfers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Manufacturers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Raw material → WIP → finished goods, work orders, purchase &amp; GRN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Multi-location businesses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Godown/warehouse transfers, opening &amp; closing stock reports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Finance-conscious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Receivables, payables, vouchers, trial balance, profit analysis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do users access it?</a:t>
            </a:r>
          </a:p>
          <a:p>
            <a:pPr lvl="0"/>
            <a:r>
              <a:rPr b="1"/>
              <a:t>Desktop application</a:t>
            </a:r>
            <a:r>
              <a:rPr/>
              <a:t> (Windows) — fast, familiar for office and counter staff</a:t>
            </a:r>
            <a:br/>
          </a:p>
          <a:p>
            <a:pPr lvl="0"/>
            <a:r>
              <a:rPr b="1"/>
              <a:t>Secure login</a:t>
            </a:r>
            <a:r>
              <a:rPr/>
              <a:t> — each user signs in with their own credentials</a:t>
            </a:r>
            <a:br/>
          </a:p>
          <a:p>
            <a:pPr lvl="0"/>
            <a:r>
              <a:rPr b="1"/>
              <a:t>Live data</a:t>
            </a:r>
            <a:r>
              <a:rPr/>
              <a:t> — connected to a central database so everyone sees up-to-date figures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One-line pitch</a:t>
            </a:r>
          </a:p>
          <a:p>
            <a:pPr lvl="0" indent="0" marL="1270000">
              <a:buNone/>
            </a:pPr>
            <a:r>
              <a:rPr sz="2000" i="1"/>
              <a:t>“IMS connects your sales desk, warehouse, purchase team, and accounts office—so you always know stock, billing, and cash position without chasing files.”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Key Features &amp; Modules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IMS is organized into clear menu sections. Below is what you can confidently present to clients.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Dashboard (Executive Overview)</a:t>
            </a:r>
          </a:p>
          <a:p>
            <a:pPr lvl="0"/>
            <a:r>
              <a:rPr b="1"/>
              <a:t>Today’s sales</a:t>
            </a:r>
            <a:r>
              <a:rPr/>
              <a:t>, total sales, total purchase, income vs expenses</a:t>
            </a:r>
            <a:br/>
          </a:p>
          <a:p>
            <a:pPr lvl="0"/>
            <a:r>
              <a:rPr b="1"/>
              <a:t>Inventory value</a:t>
            </a:r>
            <a:r>
              <a:rPr/>
              <a:t> and open work orders at a glance</a:t>
            </a:r>
            <a:br/>
          </a:p>
          <a:p>
            <a:pPr lvl="0"/>
            <a:r>
              <a:rPr b="1"/>
              <a:t>Three visual panels:</a:t>
            </a:r>
          </a:p>
          <a:p>
            <a:pPr lvl="1"/>
            <a:r>
              <a:rPr i="1"/>
              <a:t>Accounting Overview</a:t>
            </a:r>
            <a:r>
              <a:rPr/>
              <a:t> — sales vs purchase trends</a:t>
            </a:r>
            <a:br/>
          </a:p>
          <a:p>
            <a:pPr lvl="1"/>
            <a:r>
              <a:rPr i="1"/>
              <a:t>Inventory Management</a:t>
            </a:r>
            <a:r>
              <a:rPr/>
              <a:t> — stock by type (Raw, WIP, Finished, low-stock alerts)</a:t>
            </a:r>
            <a:br/>
          </a:p>
          <a:p>
            <a:pPr lvl="1"/>
            <a:r>
              <a:rPr i="1"/>
              <a:t>Production Status</a:t>
            </a:r>
            <a:r>
              <a:rPr/>
              <a:t> — orders, progress, completion, delays</a:t>
            </a:r>
            <a:br/>
          </a:p>
          <a:p>
            <a:pPr lvl="0"/>
            <a:r>
              <a:rPr b="1"/>
              <a:t>Quick links</a:t>
            </a:r>
            <a:r>
              <a:rPr/>
              <a:t> to common tasks (invoice, purchase, stock transfer, reports)</a:t>
            </a:r>
            <a:br/>
          </a:p>
          <a:p>
            <a:pPr lvl="0"/>
            <a:r>
              <a:rPr b="1"/>
              <a:t>Refresh</a:t>
            </a:r>
            <a:r>
              <a:rPr/>
              <a:t> for live figures from the server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 Sales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340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Sales Order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Capture customer orders before dispatch or billing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Delivery Challan (D.C.)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Record goods sent to customer (dispatch proof)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Tax Invoice / Sales Invoice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 customers; track posted, draft, paid status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Sales Return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Handle returns and linked credit adjustments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Sales highlights for demos:</a:t>
            </a:r>
            <a:r>
              <a:rPr/>
              <a:t> List with search and pagination (handles large volumes), print preview, edit from list, status badges (Open, Posted, Paid, etc.).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2.3 Purchase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340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Purchase Order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 materials from suppliers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Goods Receipt Note (GRN)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Record goods received against PO or direct receipt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Purchase Invoice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Supplier bills and payables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Purchase Return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goods to supplier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Purchase highlights:</a:t>
            </a:r>
            <a:r>
              <a:rPr/>
              <a:t> Same familiar layout as sales—easy training for teams who already know one side of the business.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2.4 Inventory &amp; Warehouse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Stock Movements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 receipts, issues, and adjustments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Stock Transfer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Move stock between godowns / warehouses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Inventory reports (separate menu):</a:t>
            </a:r>
          </a:p>
          <a:p>
            <a:pPr lvl="0"/>
            <a:r>
              <a:rPr/>
              <a:t>Opening Stock Report</a:t>
            </a:r>
            <a:br/>
          </a:p>
          <a:p>
            <a:pPr lvl="0"/>
            <a:r>
              <a:rPr/>
              <a:t>Closing Stock Report</a:t>
            </a:r>
            <a:br/>
          </a:p>
          <a:p>
            <a:pPr lvl="0"/>
            <a:r>
              <a:rPr/>
              <a:t>Stock Detailed Summary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2.5 Production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Work Order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Manufacturing orders tied to demand and BOM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Production 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Track progress and completion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Work Centers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Capacity and routing setup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2.6 Finance &amp; Accounts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3403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Payment Voucher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Record payments to parties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Receipt Voucher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Record money received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Debit Note / Credit Note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Adjustments with parties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Bank Entry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Deposits, withdrawals, bank transactions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Petty Cash / Cash Expense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 cash expenses and reimbursements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2.7 Receivables &amp; Reports</a:t>
            </a:r>
          </a:p>
          <a:p>
            <a:pPr lvl="0"/>
            <a:r>
              <a:rPr b="1"/>
              <a:t>Outstanding Report</a:t>
            </a:r>
            <a:r>
              <a:rPr/>
              <a:t> — who owes you / whom you owe</a:t>
            </a:r>
            <a:br/>
          </a:p>
          <a:p>
            <a:pPr lvl="0"/>
            <a:r>
              <a:rPr b="1"/>
              <a:t>Due Report (Day-wise)</a:t>
            </a:r>
            <a:r>
              <a:rPr/>
              <a:t> — aging by days</a:t>
            </a:r>
            <a:br/>
          </a:p>
          <a:p>
            <a:pPr lvl="0"/>
            <a:r>
              <a:rPr b="1"/>
              <a:t>Due Report (Amount-wise)</a:t>
            </a:r>
            <a:r>
              <a:rPr/>
              <a:t> — aging by amount slabs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2.8 MIS &amp; Financial Statements</a:t>
            </a:r>
          </a:p>
          <a:p>
            <a:pPr lvl="0" indent="0" marL="0">
              <a:buNone/>
            </a:pPr>
            <a:r>
              <a:rPr b="1"/>
              <a:t>Management reports:</a:t>
            </a:r>
            <a:r>
              <a:rPr/>
              <a:t> Ledger, reorder level, profit analysis, purchase analysis, sales analysis, production report, day-end posting, petty cash report.</a:t>
            </a:r>
          </a:p>
          <a:p>
            <a:pPr lvl="0" indent="0" marL="0">
              <a:buNone/>
            </a:pPr>
            <a:r>
              <a:rPr b="1"/>
              <a:t>Financial statements:</a:t>
            </a:r>
            <a:r>
              <a:rPr/>
              <a:t> Trial balance, trading account, profit &amp; loss, balance sheet, income vs expense view.</a:t>
            </a:r>
          </a:p>
          <a:p>
            <a:pPr lvl="0" indent="0" marL="0">
              <a:buNone/>
            </a:pPr>
            <a:r>
              <a:rPr b="1"/>
              <a:t>Day books:</a:t>
            </a:r>
            <a:r>
              <a:rPr/>
              <a:t> Day book, cash book, bank book.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2.9 Administration (Master Data)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705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Product Master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Items you buy, make, and sell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Product Types, Main Groups, Sub Groups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Classification for reporting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Sale UOM / Purchase UOM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Units of measure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Account Master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Customers, suppliers, ledgers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Company Registration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 name, GSTIN, bank details for invoices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Customer Types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 customers for analysis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User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Users, roles, departments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Settings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Themes and preferences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2.10 Data Import (Excel)</a:t>
            </a:r>
          </a:p>
          <a:p>
            <a:pPr lvl="0" indent="0" marL="0">
              <a:buNone/>
            </a:pPr>
            <a:r>
              <a:rPr/>
              <a:t>Bulk upload via Excel templates for:</a:t>
            </a:r>
          </a:p>
          <a:p>
            <a:pPr lvl="0"/>
            <a:r>
              <a:rPr/>
              <a:t>Products</a:t>
            </a:r>
            <a:br/>
          </a:p>
          <a:p>
            <a:pPr lvl="0"/>
            <a:r>
              <a:rPr/>
              <a:t>Accounts (customers &amp; suppliers)</a:t>
            </a:r>
            <a:br/>
          </a:p>
          <a:p>
            <a:pPr lvl="0"/>
            <a:r>
              <a:rPr/>
              <a:t>Sales invoices (with line items)</a:t>
            </a:r>
            <a:br/>
          </a:p>
          <a:p>
            <a:pPr lvl="0"/>
            <a:r>
              <a:rPr/>
              <a:t>Purchase invoices (with line items)</a:t>
            </a:r>
          </a:p>
          <a:p>
            <a:pPr lvl="0" indent="0" marL="0">
              <a:buNone/>
            </a:pPr>
            <a:r>
              <a:rPr i="1"/>
              <a:t>Ideal for go-live migrations and large onboarding.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Business Benefits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business owners &amp; directors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3835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means in practice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Visibility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Dashboard shows sales, purchase, stock value, and cash indicators without waiting for month-end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Fewer stock surprises—low-stock and reorder reports highlight risk early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Faster decisions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Drill from summary KPIs to lists and documents in the same 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Audit trail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Documents (SO → DC → Invoice, PO → GRN → PI) follow a logical chain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operations &amp; warehouse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3835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means in practice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Accurate stock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Transfers and movements recorded in system, not only on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Less double entry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Sales and purchase documents drive stock and accounts together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Scalable lists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Pagination handles thousands of records without slowing daily work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sales &amp; purchase teams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3835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means in practice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Faster billing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 invoice from order/challan context; print professional documents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Clear 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Open, posted, paid, cancelled—everyone sees the same status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Customer history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Account master links parties across orders and invoices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accounts &amp; finance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3835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means in practice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Receivables focus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Outstanding and due reports support collection calls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Voucher discipline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Payments and receipts recorded with references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Reporting pack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Trial balance, P&amp;L, and analysis reports in one product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ROI talking points (use with care—customize per client)</a:t>
            </a:r>
          </a:p>
          <a:p>
            <a:pPr lvl="0"/>
            <a:r>
              <a:rPr/>
              <a:t>Reduce time spent reconciling Excel stock vs billing (</a:t>
            </a:r>
            <a:r>
              <a:rPr b="1"/>
              <a:t>hours per week</a:t>
            </a:r>
            <a:r>
              <a:rPr/>
              <a:t>)</a:t>
            </a:r>
            <a:br/>
          </a:p>
          <a:p>
            <a:pPr lvl="0"/>
            <a:r>
              <a:rPr/>
              <a:t>Cut billing errors from manual copy-paste between systems</a:t>
            </a:r>
            <a:br/>
          </a:p>
          <a:p>
            <a:pPr lvl="0"/>
            <a:r>
              <a:rPr/>
              <a:t>Improve collection with visible outstanding and due aging</a:t>
            </a:r>
            <a:br/>
          </a:p>
          <a:p>
            <a:pPr lvl="0"/>
            <a:r>
              <a:rPr/>
              <a:t>Onboard faster with Excel import instead of manual master entry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User Flow / Process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4.1 Typical day for a user</a:t>
            </a:r>
          </a:p>
          <a:p>
            <a:pPr lvl="0" indent="0">
              <a:buNone/>
            </a:pPr>
            <a:r>
              <a:rPr>
                <a:latin typeface="Courier"/>
              </a:rPr>
              <a:t>Login → Dashboard (review KPIs) → Open module (e.g. Sales Invoice) 
→ Create or edit document → Save/Post → Print if needed → Back to list or Dashboard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4.2 Sales cycle (recommended story for demos)</a:t>
            </a:r>
          </a:p>
          <a:p>
            <a:pPr lvl="0" indent="0">
              <a:buNone/>
            </a:pPr>
            <a:r>
              <a:rPr>
                <a:latin typeface="Courier"/>
              </a:rPr>
              <a:t>flowchart LR
    A[Sales Order] --&gt; B[Delivery Challan]
    B --&gt; C[Tax Invoice]
    C --&gt; D[Receipt Voucher]
    A -. optional .-&gt; E[Sales Return]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Client benefit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Sales Order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Confirms customer commitment and quantity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Delivery Challan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Proof of dispatch before invoice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Tax Invoice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Legal billing and revenue recognition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Receipt Voucher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Payment recorded against invoice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Sales Return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Handles damaged/returned goods cleanly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4.3 Purchase cycle</a:t>
            </a:r>
          </a:p>
          <a:p>
            <a:pPr lvl="0" indent="0">
              <a:buNone/>
            </a:pPr>
            <a:r>
              <a:rPr>
                <a:latin typeface="Courier"/>
              </a:rPr>
              <a:t>flowchart LR
    P1[Purchase Order] --&gt; P2[GRN]
    P2 --&gt; P3[Purchase Invoice]
    P3 --&gt; P4[Payment Voucher]
    P3 -. optional .-&gt; P5[Purchase Return]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4.4 Inventory cycle</a:t>
            </a:r>
          </a:p>
          <a:p>
            <a:pPr lvl="0" indent="0">
              <a:buNone/>
            </a:pPr>
            <a:r>
              <a:rPr>
                <a:latin typeface="Courier"/>
              </a:rPr>
              <a:t>flowchart TB
    I1[Opening Stock Report] --&gt; I2[Stock Movements / GRN / Sales]
    I2 --&gt; I3[Stock Transfer between locations]
    I3 --&gt; I4[Closing Stock Report]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4.5 New client onboarding (implementation flow)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/>
                <a:gridCol w="3225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Activities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Company registration, users, product &amp; account masters (or Excel import)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Opening stock, trial transactions, train sales &amp; purchase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Go-live on invoices; parallel run with old system if needed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Reports, receivables, fine-tune masters and permissions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Dashboard &amp; Important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Insert branded screenshots below before client meetings. Suggested capture: 1920×1080, light theme, sample data anonymized.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5.1 Login screen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Secure access; supports role-based usage.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Login screen — username and password]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5.2 Main dashboard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Executive snapshot—sales, purchase, inventory value, work orders.</a:t>
            </a:r>
          </a:p>
          <a:p>
            <a:pPr lvl="0" indent="0" marL="0">
              <a:buNone/>
            </a:pPr>
            <a:r>
              <a:rPr b="1"/>
              <a:t>Callouts to mention:</a:t>
            </a:r>
            <a:r>
              <a:rPr/>
              <a:t> - Top KPI cards (Today’s Sales, Total Sales, Total Purchase, Income vs Expenses, Inventory Value, Work Orders)</a:t>
            </a:r>
            <a:br/>
            <a:r>
              <a:rPr/>
              <a:t>- Accounting Overview chart (Sales vs Purchase by month)</a:t>
            </a:r>
            <a:br/>
            <a:r>
              <a:rPr/>
              <a:t>- Inventory Management chart (stock by type with hover values)</a:t>
            </a:r>
            <a:br/>
            <a:r>
              <a:rPr/>
              <a:t>- Production Status donut (stock by category)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Full dashboard view]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Dashboard — Inventory Management panel close-up]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5.3 Sales Invoice list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High-volume list with pagination, status, actions (edit, print, delete).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Sales Invoice list with pagination bar]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5.4 Sales Invoice entry</a:t>
            </a:r>
          </a:p>
          <a:p>
            <a:pPr lvl="0" indent="0" marL="0">
              <a:buNone/>
            </a:pPr>
            <a:r>
              <a:rPr b="1"/>
              <a:t>Purpose:</a:t>
            </a:r>
            <a:r>
              <a:rPr/>
              <a:t> Header (customer, dates, GST), line items, totals, save/print.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Sales Invoice entry form with line items]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Print preview — Tax Invoice]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5.5 Purchase Order / GRN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Purchase Order list]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GRN entry screen]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5.6 Stock Transfer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Stock Transfer list and entry]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5.7 Product Master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Product Master list]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Add/Edit Product form]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5.8 Outstanding / Due reports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Outstanding Report]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Due Report — Day-wise]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5.9 Excel import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Import module — download template and upload]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5.10 Settings &amp; company profile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Company Registration — GSTIN, bank details]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[Insert screenshot: User Management]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Unique Selling Points (USP)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these differentiators when comparing to spreadsheets, generic ERPs, or disconnected tools.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/>
                <a:gridCol w="673100"/>
                <a:gridCol w="4025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to say it to the client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All-in-one for trading + manufacturing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Sales, purchase, stock, production, and finance in one desktop app—not five different tools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 chain that matches Indian business practice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 → DC → Invoice and PO → GRN → Purchase Invoice—familiar flow for your team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Built for volume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Lists support large data (e.g. 10,000+ records) with fast paging—not a spreadsheet that breaks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Live dashboard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Owners see today’s sales, stock value, and alerts without exporting to Excel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Excel import for go-live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Migrate products, accounts, and invoices quickly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Print-ready documents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Invoices and orders print from the system for customer and audit use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GST-ready company profile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GSTIN, bank details, and terms on registered company master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Receivables discipline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Outstanding and due reports built for collection workflows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Inventory intelligence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Raw / WIP / Finished breakdown and low-stock visibility on dashboard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Desktop performance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UI for daily operators; works on standard Windows PCs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Competitive positioning (internal use)</a:t>
            </a:r>
          </a:p>
          <a:p>
            <a:pPr lvl="0"/>
            <a:r>
              <a:rPr b="1"/>
              <a:t>vs. Excel only:</a:t>
            </a:r>
            <a:r>
              <a:rPr/>
              <a:t> Control, multi-user, audit trail, less formula risk</a:t>
            </a:r>
            <a:br/>
          </a:p>
          <a:p>
            <a:pPr lvl="0"/>
            <a:r>
              <a:rPr b="1"/>
              <a:t>vs. heavy ERP:</a:t>
            </a:r>
            <a:r>
              <a:rPr/>
              <a:t> Faster to learn, focused on inventory + trading workflows, lower TCO story (customize)</a:t>
            </a:r>
            <a:br/>
          </a:p>
          <a:p>
            <a:pPr lvl="0"/>
            <a:r>
              <a:rPr b="1"/>
              <a:t>vs. billing-only software:</a:t>
            </a:r>
            <a:r>
              <a:rPr/>
              <a:t> Stock and purchase integrated—not billing in isolation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Client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case 1 — Distributor (FMCG / industrial goods)</a:t>
            </a:r>
          </a:p>
          <a:p>
            <a:pPr lvl="0" indent="0" marL="0">
              <a:buNone/>
            </a:pPr>
            <a:r>
              <a:rPr b="1"/>
              <a:t>Profile:</a:t>
            </a:r>
            <a:r>
              <a:rPr/>
              <a:t> 3 godowns, 50+ salesmen, 2,000+ SKUs</a:t>
            </a:r>
          </a:p>
          <a:p>
            <a:pPr lvl="0" indent="0" marL="0">
              <a:buNone/>
            </a:pPr>
            <a:r>
              <a:rPr b="1"/>
              <a:t>Pain:</a:t>
            </a:r>
            <a:r>
              <a:rPr/>
              <a:t> Stock mismatch between godowns and billing; delayed outstanding follow-up</a:t>
            </a:r>
          </a:p>
          <a:p>
            <a:pPr lvl="0" indent="0" marL="0">
              <a:buNone/>
            </a:pPr>
            <a:r>
              <a:rPr b="1"/>
              <a:t>IMS solution:</a:t>
            </a:r>
            <a:r>
              <a:rPr/>
              <a:t> Sales Order → DC → Invoice; Stock Transfer between godowns; Outstanding and Due reports</a:t>
            </a:r>
          </a:p>
          <a:p>
            <a:pPr lvl="0" indent="0" marL="0">
              <a:buNone/>
            </a:pPr>
            <a:r>
              <a:rPr b="1"/>
              <a:t>Outcome to claim:</a:t>
            </a:r>
            <a:r>
              <a:rPr/>
              <a:t> Single stock truth; faster billing; improved collection visibility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case 2 — Manufacturer (components / assemblies)</a:t>
            </a:r>
          </a:p>
          <a:p>
            <a:pPr lvl="0" indent="0" marL="0">
              <a:buNone/>
            </a:pPr>
            <a:r>
              <a:rPr b="1"/>
              <a:t>Profile:</a:t>
            </a:r>
            <a:r>
              <a:rPr/>
              <a:t> Raw material purchase, in-house production, finished goods sale</a:t>
            </a:r>
          </a:p>
          <a:p>
            <a:pPr lvl="0" indent="0" marL="0">
              <a:buNone/>
            </a:pPr>
            <a:r>
              <a:rPr b="1"/>
              <a:t>Pain:</a:t>
            </a:r>
            <a:r>
              <a:rPr/>
              <a:t> No clear WIP visibility; purchase and production not linked to sales</a:t>
            </a:r>
          </a:p>
          <a:p>
            <a:pPr lvl="0" indent="0" marL="0">
              <a:buNone/>
            </a:pPr>
            <a:r>
              <a:rPr b="1"/>
              <a:t>IMS solution:</a:t>
            </a:r>
            <a:r>
              <a:rPr/>
              <a:t> PO → GRN; Work Orders; dashboard Raw/WIP/Finished; Sales Invoice for finished goods</a:t>
            </a:r>
          </a:p>
          <a:p>
            <a:pPr lvl="0" indent="0" marL="0">
              <a:buNone/>
            </a:pPr>
            <a:r>
              <a:rPr b="1"/>
              <a:t>Outcome to claim:</a:t>
            </a:r>
            <a:r>
              <a:rPr/>
              <a:t> Better production planning input; reduced excess raw stock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case 3 — Trader with import / bulk purchase</a:t>
            </a:r>
          </a:p>
          <a:p>
            <a:pPr lvl="0" indent="0" marL="0">
              <a:buNone/>
            </a:pPr>
            <a:r>
              <a:rPr b="1"/>
              <a:t>Profile:</a:t>
            </a:r>
            <a:r>
              <a:rPr/>
              <a:t> High purchase volume, container-based buying, domestic resale</a:t>
            </a:r>
          </a:p>
          <a:p>
            <a:pPr lvl="0" indent="0" marL="0">
              <a:buNone/>
            </a:pPr>
            <a:r>
              <a:rPr b="1"/>
              <a:t>Pain:</a:t>
            </a:r>
            <a:r>
              <a:rPr/>
              <a:t> Slow master setup; invoice data entry from supplier PDFs</a:t>
            </a:r>
          </a:p>
          <a:p>
            <a:pPr lvl="0" indent="0" marL="0">
              <a:buNone/>
            </a:pPr>
            <a:r>
              <a:rPr b="1"/>
              <a:t>IMS solution:</a:t>
            </a:r>
            <a:r>
              <a:rPr/>
              <a:t> Excel import for products and purchase invoices; Purchase Analysis report</a:t>
            </a:r>
          </a:p>
          <a:p>
            <a:pPr lvl="0" indent="0" marL="0">
              <a:buNone/>
            </a:pPr>
            <a:r>
              <a:rPr b="1"/>
              <a:t>Outcome to claim:</a:t>
            </a:r>
            <a:r>
              <a:rPr/>
              <a:t> Shorter go-live; less manual entry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case 4 — Multi-branch retail + wholesale</a:t>
            </a:r>
          </a:p>
          <a:p>
            <a:pPr lvl="0" indent="0" marL="0">
              <a:buNone/>
            </a:pPr>
            <a:r>
              <a:rPr b="1"/>
              <a:t>Profile:</a:t>
            </a:r>
            <a:r>
              <a:rPr/>
              <a:t> Retail counter + wholesale invoices; one central accounts team</a:t>
            </a:r>
          </a:p>
          <a:p>
            <a:pPr lvl="0" indent="0" marL="0">
              <a:buNone/>
            </a:pPr>
            <a:r>
              <a:rPr b="1"/>
              <a:t>Pain:</a:t>
            </a:r>
            <a:r>
              <a:rPr/>
              <a:t> Finance needs consolidated receivables across branches</a:t>
            </a:r>
          </a:p>
          <a:p>
            <a:pPr lvl="0" indent="0" marL="0">
              <a:buNone/>
            </a:pPr>
            <a:r>
              <a:rPr b="1"/>
              <a:t>IMS solution:</a:t>
            </a:r>
            <a:r>
              <a:rPr/>
              <a:t> Account Master; Receipt/Payment vouchers; Outstanding Report; Trial Balance</a:t>
            </a:r>
          </a:p>
          <a:p>
            <a:pPr lvl="0" indent="0" marL="0">
              <a:buNone/>
            </a:pPr>
            <a:r>
              <a:rPr b="1"/>
              <a:t>Outcome to claim:</a:t>
            </a:r>
            <a:r>
              <a:rPr/>
              <a:t> Central finance view; consistent party ledger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case 5 — Growing SME replacing legacy software</a:t>
            </a:r>
          </a:p>
          <a:p>
            <a:pPr lvl="0" indent="0" marL="0">
              <a:buNone/>
            </a:pPr>
            <a:r>
              <a:rPr b="1"/>
              <a:t>Profile:</a:t>
            </a:r>
            <a:r>
              <a:rPr/>
              <a:t> 10–30 users; outgrowing old DOS/legacy system</a:t>
            </a:r>
          </a:p>
          <a:p>
            <a:pPr lvl="0" indent="0" marL="0">
              <a:buNone/>
            </a:pPr>
            <a:r>
              <a:rPr b="1"/>
              <a:t>Pain:</a:t>
            </a:r>
            <a:r>
              <a:rPr/>
              <a:t> Training fear; need parallel run</a:t>
            </a:r>
          </a:p>
          <a:p>
            <a:pPr lvl="0" indent="0" marL="0">
              <a:buNone/>
            </a:pPr>
            <a:r>
              <a:rPr b="1"/>
              <a:t>IMS solution:</a:t>
            </a:r>
            <a:r>
              <a:rPr/>
              <a:t> Familiar document names; Excel import; phased module rollout (Sales first, then Purchase, then Finance)</a:t>
            </a:r>
          </a:p>
          <a:p>
            <a:pPr lvl="0" indent="0" marL="0">
              <a:buNone/>
            </a:pPr>
            <a:r>
              <a:rPr b="1"/>
              <a:t>Outcome to claim:</a:t>
            </a:r>
            <a:r>
              <a:rPr/>
              <a:t> Modern UI with lower disruption than full ERP replacement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FAQ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</a:t>
            </a:r>
          </a:p>
          <a:p>
            <a:pPr lvl="0" indent="0" marL="0">
              <a:buNone/>
            </a:pPr>
            <a:r>
              <a:rPr b="1"/>
              <a:t>Q: Is IMS cloud-based or on-premise?</a:t>
            </a:r>
            <a:br/>
            <a:r>
              <a:rPr/>
              <a:t>A: IMS runs as a </a:t>
            </a:r>
            <a:r>
              <a:rPr b="1"/>
              <a:t>desktop application</a:t>
            </a:r>
            <a:r>
              <a:rPr/>
              <a:t> on Windows PCs, connected to a </a:t>
            </a:r>
            <a:r>
              <a:rPr b="1"/>
              <a:t>central database server</a:t>
            </a:r>
            <a:r>
              <a:rPr/>
              <a:t> on your network (or hosted VM). Your IT team or our implementation partner sets up the server; users install the desktop app. </a:t>
            </a:r>
            <a:r>
              <a:rPr i="1"/>
              <a:t>Clarify your deployment model with delivery team before promising cloud/SaaS.</a:t>
            </a:r>
          </a:p>
          <a:p>
            <a:pPr lvl="0" indent="0" marL="0">
              <a:buNone/>
            </a:pPr>
            <a:r>
              <a:rPr b="1"/>
              <a:t>Q: How many users can work at the same time?</a:t>
            </a:r>
            <a:br/>
            <a:r>
              <a:rPr/>
              <a:t>A: Multiple users can work concurrently when connected to the same central database. User accounts are managed in </a:t>
            </a:r>
            <a:r>
              <a:rPr b="1"/>
              <a:t>User Management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Q: Do we need internet?</a:t>
            </a:r>
            <a:br/>
            <a:r>
              <a:rPr/>
              <a:t>A: Users need network access to the </a:t>
            </a:r>
            <a:r>
              <a:rPr b="1"/>
              <a:t>application server</a:t>
            </a:r>
            <a:r>
              <a:rPr/>
              <a:t> on your LAN/VPN. Internet is required only if the server is hosted in the cloud.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Sales &amp; purchase</a:t>
            </a:r>
          </a:p>
          <a:p>
            <a:pPr lvl="0" indent="0" marL="0">
              <a:buNone/>
            </a:pPr>
            <a:r>
              <a:rPr b="1"/>
              <a:t>Q: Can we print tax invoices?</a:t>
            </a:r>
            <a:br/>
            <a:r>
              <a:rPr/>
              <a:t>A: Yes. Sales and purchase documents support </a:t>
            </a:r>
            <a:r>
              <a:rPr b="1"/>
              <a:t>print preview</a:t>
            </a:r>
            <a:r>
              <a:rPr/>
              <a:t> for professional output (company logo/text from Company Registration).</a:t>
            </a:r>
          </a:p>
          <a:p>
            <a:pPr lvl="0" indent="0" marL="0">
              <a:buNone/>
            </a:pPr>
            <a:r>
              <a:rPr b="1"/>
              <a:t>Q: Can we handle sales returns?</a:t>
            </a:r>
            <a:br/>
            <a:r>
              <a:rPr/>
              <a:t>A: Yes, via the </a:t>
            </a:r>
            <a:r>
              <a:rPr b="1"/>
              <a:t>Sales Return</a:t>
            </a:r>
            <a:r>
              <a:rPr/>
              <a:t> module, aligned with your sales invoice workflow.</a:t>
            </a:r>
          </a:p>
          <a:p>
            <a:pPr lvl="0" indent="0" marL="0">
              <a:buNone/>
            </a:pPr>
            <a:r>
              <a:rPr b="1"/>
              <a:t>Q: Does it support delivery challan before invoice?</a:t>
            </a:r>
            <a:br/>
            <a:r>
              <a:rPr/>
              <a:t>A: Yes. </a:t>
            </a:r>
            <a:r>
              <a:rPr b="1"/>
              <a:t>Delivery Challan</a:t>
            </a:r>
            <a:r>
              <a:rPr/>
              <a:t> is a standard module in the sales flow.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Inventory</a:t>
            </a:r>
          </a:p>
          <a:p>
            <a:pPr lvl="0" indent="0" marL="0">
              <a:buNone/>
            </a:pPr>
            <a:r>
              <a:rPr b="1"/>
              <a:t>Q: Can we track stock in multiple warehouses/godowns?</a:t>
            </a:r>
            <a:br/>
            <a:r>
              <a:rPr/>
              <a:t>A: Yes, using </a:t>
            </a:r>
            <a:r>
              <a:rPr b="1"/>
              <a:t>Stock Transfer</a:t>
            </a:r>
            <a:r>
              <a:rPr/>
              <a:t> and inventory reports (opening/closing stock).</a:t>
            </a:r>
          </a:p>
          <a:p>
            <a:pPr lvl="0" indent="0" marL="0">
              <a:buNone/>
            </a:pPr>
            <a:r>
              <a:rPr b="1"/>
              <a:t>Q: Will the system warn us about low stock?</a:t>
            </a:r>
            <a:br/>
            <a:r>
              <a:rPr/>
              <a:t>A: The dashboard highlights </a:t>
            </a:r>
            <a:r>
              <a:rPr b="1"/>
              <a:t>low-stock</a:t>
            </a:r>
            <a:r>
              <a:rPr/>
              <a:t> items, and the </a:t>
            </a:r>
            <a:r>
              <a:rPr b="1"/>
              <a:t>Reorder Level Report</a:t>
            </a:r>
            <a:r>
              <a:rPr/>
              <a:t> lists items at or below reorder quantity.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Finance &amp; reports</a:t>
            </a:r>
          </a:p>
          <a:p>
            <a:pPr lvl="0" indent="0" marL="0">
              <a:buNone/>
            </a:pPr>
            <a:r>
              <a:rPr b="1"/>
              <a:t>Q: Can we see who has not paid?</a:t>
            </a:r>
            <a:br/>
            <a:r>
              <a:rPr/>
              <a:t>A: Yes. Use </a:t>
            </a:r>
            <a:r>
              <a:rPr b="1"/>
              <a:t>Outstanding Report</a:t>
            </a:r>
            <a:r>
              <a:rPr/>
              <a:t> and </a:t>
            </a:r>
            <a:r>
              <a:rPr b="1"/>
              <a:t>Due reports</a:t>
            </a:r>
            <a:r>
              <a:rPr/>
              <a:t> (day-wise and amount-wise).</a:t>
            </a:r>
          </a:p>
          <a:p>
            <a:pPr lvl="0" indent="0" marL="0">
              <a:buNone/>
            </a:pPr>
            <a:r>
              <a:rPr b="1"/>
              <a:t>Q: Do you provide profit and trial balance reports?</a:t>
            </a:r>
            <a:br/>
            <a:r>
              <a:rPr/>
              <a:t>A: Yes, under </a:t>
            </a:r>
            <a:r>
              <a:rPr b="1"/>
              <a:t>MIS Reports</a:t>
            </a:r>
            <a:r>
              <a:rPr/>
              <a:t> and </a:t>
            </a:r>
            <a:r>
              <a:rPr b="1"/>
              <a:t>Financial Statements</a:t>
            </a:r>
            <a:r>
              <a:rPr/>
              <a:t> (e.g. Trial Balance, Profit &amp; Loss).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Implementation</a:t>
            </a:r>
          </a:p>
          <a:p>
            <a:pPr lvl="0" indent="0" marL="0">
              <a:buNone/>
            </a:pPr>
            <a:r>
              <a:rPr b="1"/>
              <a:t>Q: Can we import our existing product and customer list?</a:t>
            </a:r>
            <a:br/>
            <a:r>
              <a:rPr/>
              <a:t>A: Yes, via </a:t>
            </a:r>
            <a:r>
              <a:rPr b="1"/>
              <a:t>Excel import</a:t>
            </a:r>
            <a:r>
              <a:rPr/>
              <a:t> for products, accounts, and invoices (templates provided in the app).</a:t>
            </a:r>
          </a:p>
          <a:p>
            <a:pPr lvl="0" indent="0" marL="0">
              <a:buNone/>
            </a:pPr>
            <a:r>
              <a:rPr b="1"/>
              <a:t>Q: How long does implementation take?</a:t>
            </a:r>
            <a:br/>
            <a:r>
              <a:rPr/>
              <a:t>A: Typical range: </a:t>
            </a:r>
            <a:r>
              <a:rPr b="1"/>
              <a:t>2–6 weeks</a:t>
            </a:r>
            <a:r>
              <a:rPr/>
              <a:t> depending on data quality, user count, and modules enabled. Use the onboarding flow in Section 4.5 as a guide.</a:t>
            </a:r>
          </a:p>
          <a:p>
            <a:pPr lvl="0" indent="0" marL="0">
              <a:buNone/>
            </a:pPr>
            <a:r>
              <a:rPr b="1"/>
              <a:t>Q: Do you provide training?</a:t>
            </a:r>
            <a:br/>
            <a:r>
              <a:rPr/>
              <a:t>A: </a:t>
            </a:r>
            <a:r>
              <a:rPr i="1"/>
              <a:t>[Insert your company training offer—e.g. on-site, remote, train-the-trainer.]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Security &amp; support</a:t>
            </a:r>
          </a:p>
          <a:p>
            <a:pPr lvl="0" indent="0" marL="0">
              <a:buNone/>
            </a:pPr>
            <a:r>
              <a:rPr b="1"/>
              <a:t>Q: Is login secure?</a:t>
            </a:r>
            <a:br/>
            <a:r>
              <a:rPr/>
              <a:t>A: Users sign in with individual credentials. </a:t>
            </a:r>
            <a:r>
              <a:rPr i="1"/>
              <a:t>[Confirm password policy, roles, and backup practices with your technical team.]</a:t>
            </a:r>
          </a:p>
          <a:p>
            <a:pPr lvl="0" indent="0" marL="0">
              <a:buNone/>
            </a:pPr>
            <a:r>
              <a:rPr b="1"/>
              <a:t>Q: What support do we get after go-live?</a:t>
            </a:r>
            <a:br/>
            <a:r>
              <a:rPr/>
              <a:t>A: </a:t>
            </a:r>
            <a:r>
              <a:rPr i="1"/>
              <a:t>[Insert SLA: phone/email, hours, AMC, optional annual contract.]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9. Optional Pricing / Plan Section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Customize this section with your commercial model. Remove or rename tiers as needed.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Suggested packaging framework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700"/>
                <a:gridCol w="1498600"/>
                <a:gridCol w="2705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Typical includes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Starter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location, &lt; 10 users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Sales + Purchase + Product Master + Dashboard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Professional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Growing SME, multi-godown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Starter + Inventory + Finance vouchers + key reports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Enterprise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Manufacturing + multi-branch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modules + import + implementation + training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AMC /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clients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Updates, backup guidance, priority support </a:t>
                      </a:r>
                      <a:r>
                        <a:rPr i="1"/>
                        <a:t>(annual)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Pricing variables (internal checklist)</a:t>
            </a:r>
          </a:p>
          <a:p>
            <a:pPr lvl="0"/>
            <a:r>
              <a:rPr/>
              <a:t>Number of </a:t>
            </a:r>
            <a:r>
              <a:rPr b="1"/>
              <a:t>users</a:t>
            </a:r>
            <a:r>
              <a:rPr/>
              <a:t> (named or concurrent)</a:t>
            </a:r>
            <a:br/>
          </a:p>
          <a:p>
            <a:pPr lvl="0"/>
            <a:r>
              <a:rPr/>
              <a:t>Number of </a:t>
            </a:r>
            <a:r>
              <a:rPr b="1"/>
              <a:t>companies</a:t>
            </a:r>
            <a:r>
              <a:rPr/>
              <a:t> / branches</a:t>
            </a:r>
            <a:br/>
          </a:p>
          <a:p>
            <a:pPr lvl="0"/>
            <a:r>
              <a:rPr b="1"/>
              <a:t>Modules</a:t>
            </a:r>
            <a:r>
              <a:rPr/>
              <a:t> enabled</a:t>
            </a:r>
            <a:br/>
          </a:p>
          <a:p>
            <a:pPr lvl="0"/>
            <a:r>
              <a:rPr b="1"/>
              <a:t>Implementation</a:t>
            </a:r>
            <a:r>
              <a:rPr/>
              <a:t> days (data migration, training)</a:t>
            </a:r>
            <a:br/>
          </a:p>
          <a:p>
            <a:pPr lvl="0"/>
            <a:r>
              <a:rPr b="1"/>
              <a:t>Customization</a:t>
            </a:r>
            <a:r>
              <a:rPr/>
              <a:t> (if any)</a:t>
            </a:r>
            <a:br/>
          </a:p>
          <a:p>
            <a:pPr lvl="0"/>
            <a:r>
              <a:rPr b="1"/>
              <a:t>Hardware/server</a:t>
            </a:r>
            <a:r>
              <a:rPr/>
              <a:t> (client-provided vs bundled)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Sample pricing table (placeholder)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IMS Professional — per user / 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[₹ ______]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One-time implementation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Project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[₹ ______]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migration (Excel import support)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Lump sum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[₹ ______]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Training (per day)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[₹ ______]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maintenance (AMC)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% of license or fixed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[₹ ______]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Notes for sales:</a:t>
            </a:r>
            <a:r>
              <a:rPr/>
              <a:t> - Lead with </a:t>
            </a:r>
            <a:r>
              <a:rPr b="1"/>
              <a:t>value and modules</a:t>
            </a:r>
            <a:r>
              <a:rPr/>
              <a:t>, not feature dumps</a:t>
            </a:r>
            <a:br/>
            <a:r>
              <a:rPr/>
              <a:t>- Offer </a:t>
            </a:r>
            <a:r>
              <a:rPr b="1"/>
              <a:t>phased rollout</a:t>
            </a:r>
            <a:r>
              <a:rPr/>
              <a:t> to reduce upfront cost</a:t>
            </a:r>
            <a:br/>
            <a:r>
              <a:rPr/>
              <a:t>- Bundle </a:t>
            </a:r>
            <a:r>
              <a:rPr b="1"/>
              <a:t>Year 1 implementation + AMC</a:t>
            </a:r>
            <a:r>
              <a:rPr/>
              <a:t> for better close rates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10. 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IMS</a:t>
            </a:r>
            <a:r>
              <a:rPr/>
              <a:t> gives trading, manufacturing, and distribution businesses a </a:t>
            </a:r>
            <a:r>
              <a:rPr b="1"/>
              <a:t>practical, integrated way</a:t>
            </a:r>
            <a:r>
              <a:rPr/>
              <a:t> to run sales, purchases, inventory, production, and finance—without the complexity of a generic enterprise ERP.</a:t>
            </a:r>
          </a:p>
          <a:p>
            <a:pPr lvl="0" indent="0" marL="0">
              <a:buNone/>
            </a:pPr>
            <a:r>
              <a:rPr/>
              <a:t>For your next client conversation, remember the three pillars:</a:t>
            </a:r>
          </a:p>
          <a:p>
            <a:pPr lvl="0" indent="-342900" marL="342900">
              <a:buAutoNum type="arabicPeriod"/>
            </a:pPr>
            <a:r>
              <a:rPr b="1"/>
              <a:t>Operate</a:t>
            </a:r>
            <a:r>
              <a:rPr/>
              <a:t> — SO → DC → Invoice and PO → GRN → Purchase Invoice with real stock impact</a:t>
            </a:r>
            <a:br/>
          </a:p>
          <a:p>
            <a:pPr lvl="0" indent="-342900" marL="342900">
              <a:buAutoNum type="arabicPeriod"/>
            </a:pPr>
            <a:r>
              <a:rPr b="1"/>
              <a:t>Control</a:t>
            </a:r>
            <a:r>
              <a:rPr/>
              <a:t> — Dashboard, low stock, outstanding, and management reports</a:t>
            </a:r>
            <a:br/>
          </a:p>
          <a:p>
            <a:pPr lvl="0" indent="-342900" marL="342900">
              <a:buAutoNum type="arabicPeriod"/>
            </a:pPr>
            <a:r>
              <a:rPr b="1"/>
              <a:t>Grow</a:t>
            </a:r>
            <a:r>
              <a:rPr/>
              <a:t> — Excel import, scalable lists, and a path from Starter to full Enterprise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Recommended demo flow (30 minutes)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Dashboard KPIs and three panels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Sales Order → Invoice → Print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Purchase GRN or PO (brief)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Stock Transfer or Outstanding Report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 Master + Import + Q&amp;A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Next steps for the prospect</a:t>
            </a:r>
          </a:p>
          <a:p>
            <a:pPr lvl="0" indent="-342900" marL="342900">
              <a:buAutoNum type="arabicPeriod"/>
            </a:pPr>
            <a:r>
              <a:rPr/>
              <a:t>Discovery call (users, locations, current software)</a:t>
            </a:r>
            <a:br/>
          </a:p>
          <a:p>
            <a:pPr lvl="0" indent="-342900" marL="342900">
              <a:buAutoNum type="arabicPeriod"/>
            </a:pPr>
            <a:r>
              <a:rPr/>
              <a:t>Customized demo on </a:t>
            </a:r>
            <a:r>
              <a:rPr b="1"/>
              <a:t>their</a:t>
            </a:r>
            <a:r>
              <a:rPr/>
              <a:t> industry scenario</a:t>
            </a:r>
            <a:br/>
          </a:p>
          <a:p>
            <a:pPr lvl="0" indent="-342900" marL="342900">
              <a:buAutoNum type="arabicPeriod"/>
            </a:pPr>
            <a:r>
              <a:rPr/>
              <a:t>Implementation plan + commercial proposal</a:t>
            </a:r>
            <a:br/>
          </a:p>
          <a:p>
            <a:pPr lvl="0" indent="-342900" marL="342900">
              <a:buAutoNum type="arabicPeriod"/>
            </a:pPr>
            <a:r>
              <a:rPr/>
              <a:t>Pilot or phased go-live agreement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Document control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Prepared for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Sales &amp; Business Development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IMS — Inventory Management 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[Your company name, phone, email, website]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[Insert company logo on cover when exporting]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document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2026-05-29T10:47:51Z</dcterms:created>
  <dcterms:modified xsi:type="dcterms:W3CDTF">2026-05-29T10:47:51Z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